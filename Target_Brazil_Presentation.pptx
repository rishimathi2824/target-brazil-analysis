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Arimo"/>
      <p:regular r:id="rId19"/>
      <p:bold r:id="rId20"/>
      <p:italic r:id="rId21"/>
      <p:boldItalic r:id="rId22"/>
    </p:embeddedFont>
    <p:embeddedFont>
      <p:font typeface="DM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68F88C-B43D-446A-83D6-B58431BCA068}">
  <a:tblStyle styleId="{EB68F88C-B43D-446A-83D6-B58431BCA06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11" Type="http://schemas.openxmlformats.org/officeDocument/2006/relationships/slide" Target="slides/slide5.xml"/><Relationship Id="rId22" Type="http://schemas.openxmlformats.org/officeDocument/2006/relationships/font" Target="fonts/Arimo-boldItalic.fntdata"/><Relationship Id="rId10" Type="http://schemas.openxmlformats.org/officeDocument/2006/relationships/slide" Target="slides/slide4.xml"/><Relationship Id="rId21" Type="http://schemas.openxmlformats.org/officeDocument/2006/relationships/font" Target="fonts/Arimo-italic.fntdata"/><Relationship Id="rId13" Type="http://schemas.openxmlformats.org/officeDocument/2006/relationships/slide" Target="slides/slide7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6.xml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rim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c29f9b25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1c29f9b257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c29f9b25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1c29f9b257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c29f9b2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1c29f9b25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p9"/>
          <p:cNvPicPr preferRelativeResize="0"/>
          <p:nvPr/>
        </p:nvPicPr>
        <p:blipFill>
          <a:blip r:embed="rId2">
            <a:alphaModFix amt="73000"/>
          </a:blip>
          <a:stretch>
            <a:fillRect/>
          </a:stretch>
        </p:blipFill>
        <p:spPr>
          <a:xfrm>
            <a:off x="9309" y="0"/>
            <a:ext cx="18271080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12"/>
          <p:cNvPicPr preferRelativeResize="0"/>
          <p:nvPr/>
        </p:nvPicPr>
        <p:blipFill rotWithShape="1">
          <a:blip r:embed="rId2">
            <a:alphaModFix amt="84000"/>
          </a:blip>
          <a:srcRect b="0" l="34632" r="0" t="0"/>
          <a:stretch/>
        </p:blipFill>
        <p:spPr>
          <a:xfrm>
            <a:off x="7983000" y="0"/>
            <a:ext cx="1030500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3"/>
          <p:cNvGrpSpPr/>
          <p:nvPr/>
        </p:nvGrpSpPr>
        <p:grpSpPr>
          <a:xfrm>
            <a:off x="9394294" y="9027056"/>
            <a:ext cx="481538" cy="481538"/>
            <a:chOff x="0" y="0"/>
            <a:chExt cx="642051" cy="642051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642051" cy="642051"/>
            </a:xfrm>
            <a:custGeom>
              <a:rect b="b" l="l" r="r" t="t"/>
              <a:pathLst>
                <a:path extrusionOk="0"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4C5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205355" y="192503"/>
              <a:ext cx="231341" cy="257046"/>
            </a:xfrm>
            <a:custGeom>
              <a:rect b="b" l="l" r="r" t="t"/>
              <a:pathLst>
                <a:path extrusionOk="0" h="257046" w="231341">
                  <a:moveTo>
                    <a:pt x="0" y="0"/>
                  </a:moveTo>
                  <a:lnTo>
                    <a:pt x="231341" y="0"/>
                  </a:lnTo>
                  <a:lnTo>
                    <a:pt x="231341" y="257045"/>
                  </a:lnTo>
                  <a:lnTo>
                    <a:pt x="0" y="2570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9" name="Google Shape;89;p13"/>
          <p:cNvSpPr/>
          <p:nvPr/>
        </p:nvSpPr>
        <p:spPr>
          <a:xfrm>
            <a:off x="1028700" y="1028700"/>
            <a:ext cx="255713" cy="63928"/>
          </a:xfrm>
          <a:custGeom>
            <a:rect b="b" l="l" r="r" t="t"/>
            <a:pathLst>
              <a:path extrusionOk="0"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9384769" y="0"/>
            <a:ext cx="8903231" cy="10287000"/>
          </a:xfrm>
          <a:custGeom>
            <a:rect b="b" l="l" r="r" t="t"/>
            <a:pathLst>
              <a:path extrusionOk="0" h="10287000" w="8903231">
                <a:moveTo>
                  <a:pt x="0" y="0"/>
                </a:moveTo>
                <a:lnTo>
                  <a:pt x="8903231" y="0"/>
                </a:lnTo>
                <a:lnTo>
                  <a:pt x="890323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8067" r="-46796" t="0"/>
            </a:stretch>
          </a:blipFill>
          <a:ln>
            <a:noFill/>
          </a:ln>
        </p:spPr>
      </p:sp>
      <p:grpSp>
        <p:nvGrpSpPr>
          <p:cNvPr id="91" name="Google Shape;91;p13"/>
          <p:cNvGrpSpPr/>
          <p:nvPr/>
        </p:nvGrpSpPr>
        <p:grpSpPr>
          <a:xfrm>
            <a:off x="796854" y="1703867"/>
            <a:ext cx="8838209" cy="4360242"/>
            <a:chOff x="0" y="85725"/>
            <a:chExt cx="11784279" cy="5813656"/>
          </a:xfrm>
        </p:grpSpPr>
        <p:sp>
          <p:nvSpPr>
            <p:cNvPr id="92" name="Google Shape;92;p13"/>
            <p:cNvSpPr txBox="1"/>
            <p:nvPr/>
          </p:nvSpPr>
          <p:spPr>
            <a:xfrm>
              <a:off x="0" y="85725"/>
              <a:ext cx="11784279" cy="4782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0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Target Brazil: Executive Overview</a:t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5223106"/>
              <a:ext cx="11784279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259438" y="8087308"/>
            <a:ext cx="36168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7" u="none" cap="none" strike="noStrike">
                <a:solidFill>
                  <a:srgbClr val="EEEFEE"/>
                </a:solidFill>
                <a:latin typeface="Arial"/>
                <a:ea typeface="Arial"/>
                <a:cs typeface="Arial"/>
                <a:sym typeface="Arial"/>
              </a:rPr>
              <a:t>Sanjit Kangovi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7" u="none" cap="none" strike="noStrike">
                <a:solidFill>
                  <a:srgbClr val="EEEFEE"/>
                </a:solidFill>
                <a:latin typeface="Arial"/>
                <a:ea typeface="Arial"/>
                <a:cs typeface="Arial"/>
                <a:sym typeface="Arial"/>
              </a:rPr>
              <a:t>Siddhartha Sumant Mysore 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7" u="none" cap="none" strike="noStrike">
                <a:solidFill>
                  <a:srgbClr val="EEEFEE"/>
                </a:solidFill>
                <a:latin typeface="Arial"/>
                <a:ea typeface="Arial"/>
                <a:cs typeface="Arial"/>
                <a:sym typeface="Arial"/>
              </a:rPr>
              <a:t>Rishikumar Mathiazhagan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7" u="none" cap="none" strike="noStrike">
                <a:solidFill>
                  <a:srgbClr val="EEEFEE"/>
                </a:solidFill>
                <a:latin typeface="Arial"/>
                <a:ea typeface="Arial"/>
                <a:cs typeface="Arial"/>
                <a:sym typeface="Arial"/>
              </a:rPr>
              <a:t>Krithika Suwarna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7" u="none" cap="none" strike="noStrike">
                <a:solidFill>
                  <a:srgbClr val="EEEFEE"/>
                </a:solidFill>
                <a:latin typeface="Arial"/>
                <a:ea typeface="Arial"/>
                <a:cs typeface="Arial"/>
                <a:sym typeface="Arial"/>
              </a:rPr>
              <a:t>Hamsavi Krishnan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0"/>
            <a:ext cx="6495317" cy="10287000"/>
          </a:xfrm>
          <a:custGeom>
            <a:rect b="b" l="l" r="r" t="t"/>
            <a:pathLst>
              <a:path extrusionOk="0" h="10287000" w="6495317">
                <a:moveTo>
                  <a:pt x="0" y="0"/>
                </a:moveTo>
                <a:lnTo>
                  <a:pt x="6495317" y="0"/>
                </a:lnTo>
                <a:lnTo>
                  <a:pt x="64953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43" l="-15354" r="-126473" t="0"/>
            </a:stretch>
          </a:blipFill>
          <a:ln>
            <a:noFill/>
          </a:ln>
        </p:spPr>
      </p:sp>
      <p:sp>
        <p:nvSpPr>
          <p:cNvPr id="100" name="Google Shape;100;p14"/>
          <p:cNvSpPr txBox="1"/>
          <p:nvPr/>
        </p:nvSpPr>
        <p:spPr>
          <a:xfrm>
            <a:off x="7728479" y="522810"/>
            <a:ext cx="9119947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144175" y="4393425"/>
            <a:ext cx="10288554" cy="4158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6013" lvl="1" marL="612026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4"/>
              <a:buFont typeface="Arial"/>
              <a:buChar char="•"/>
            </a:pPr>
            <a:r>
              <a:rPr b="0" i="0" lang="en-US" sz="2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Provide a comprehensive analysis of Target's operations in Brazil, focusing on sales performance and delivery efficiency for the period 2016-2018.</a:t>
            </a:r>
            <a:endParaRPr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6013" lvl="1" marL="612026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4"/>
              <a:buFont typeface="Arial"/>
              <a:buChar char="•"/>
            </a:pPr>
            <a:r>
              <a:rPr b="0" i="0" lang="en-US" sz="28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Highlight key insights to support strategic decision-making in logistics, operations, and revenue optimization.</a:t>
            </a:r>
            <a:endParaRPr/>
          </a:p>
          <a:p>
            <a:pPr indent="0" lvl="0" marL="0" marR="0" rtl="0" algn="ctr">
              <a:lnSpc>
                <a:spcPct val="1001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16921370" y="991777"/>
            <a:ext cx="337930" cy="337930"/>
          </a:xfrm>
          <a:custGeom>
            <a:rect b="b" l="l" r="r" t="t"/>
            <a:pathLst>
              <a:path extrusionOk="0" h="337930" w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07" name="Google Shape;107;p15"/>
          <p:cNvGraphicFramePr/>
          <p:nvPr/>
        </p:nvGraphicFramePr>
        <p:xfrm>
          <a:off x="9144000" y="2439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{EB68F88C-B43D-446A-83D6-B58431BCA068}</a:tableStyleId>
              </a:tblPr>
              <a:tblGrid>
                <a:gridCol w="4255475"/>
                <a:gridCol w="4255475"/>
              </a:tblGrid>
              <a:tr h="217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199" u="none" cap="none" strike="noStrike">
                          <a:solidFill>
                            <a:srgbClr val="C61E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Delivery Dashboard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99" u="none" cap="none" strike="noStrike">
                          <a:solidFill>
                            <a:srgbClr val="C61E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 Dashboard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99"/>
                    </a:solidFill>
                  </a:tcPr>
                </a:tc>
              </a:tr>
              <a:tr h="122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Logistics Team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Finance Team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E3"/>
                    </a:solidFill>
                  </a:tcPr>
                </a:tc>
              </a:tr>
              <a:tr h="163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Operations Managers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Sales and Marketing Team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E3"/>
                    </a:solidFill>
                  </a:tcPr>
                </a:tc>
              </a:tr>
              <a:tr h="169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Senior Management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     Senior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99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   Management</a:t>
                      </a:r>
                      <a:endParaRPr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id="108" name="Google Shape;108;p15"/>
          <p:cNvSpPr/>
          <p:nvPr/>
        </p:nvSpPr>
        <p:spPr>
          <a:xfrm>
            <a:off x="0" y="0"/>
            <a:ext cx="8087941" cy="10287000"/>
          </a:xfrm>
          <a:custGeom>
            <a:rect b="b" l="l" r="r" t="t"/>
            <a:pathLst>
              <a:path extrusionOk="0" h="10287000" w="8087941">
                <a:moveTo>
                  <a:pt x="0" y="0"/>
                </a:moveTo>
                <a:lnTo>
                  <a:pt x="8087941" y="0"/>
                </a:lnTo>
                <a:lnTo>
                  <a:pt x="80879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7715" r="-40238" t="0"/>
            </a:stretch>
          </a:blipFill>
          <a:ln>
            <a:noFill/>
          </a:ln>
        </p:spPr>
      </p:sp>
      <p:grpSp>
        <p:nvGrpSpPr>
          <p:cNvPr id="109" name="Google Shape;109;p15"/>
          <p:cNvGrpSpPr/>
          <p:nvPr/>
        </p:nvGrpSpPr>
        <p:grpSpPr>
          <a:xfrm>
            <a:off x="9144000" y="414819"/>
            <a:ext cx="7601775" cy="1829776"/>
            <a:chOff x="0" y="0"/>
            <a:chExt cx="10135700" cy="2439701"/>
          </a:xfrm>
        </p:grpSpPr>
        <p:sp>
          <p:nvSpPr>
            <p:cNvPr id="110" name="Google Shape;110;p15"/>
            <p:cNvSpPr txBox="1"/>
            <p:nvPr/>
          </p:nvSpPr>
          <p:spPr>
            <a:xfrm>
              <a:off x="0" y="0"/>
              <a:ext cx="10135700" cy="14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19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Intended Users</a:t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0" y="1989910"/>
              <a:ext cx="8246277" cy="4497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4049935" y="1410711"/>
            <a:ext cx="255713" cy="63928"/>
          </a:xfrm>
          <a:custGeom>
            <a:rect b="b" l="l" r="r" t="t"/>
            <a:pathLst>
              <a:path extrusionOk="0" h="63928" w="255713">
                <a:moveTo>
                  <a:pt x="0" y="0"/>
                </a:moveTo>
                <a:lnTo>
                  <a:pt x="255713" y="0"/>
                </a:lnTo>
                <a:lnTo>
                  <a:pt x="255713" y="63929"/>
                </a:lnTo>
                <a:lnTo>
                  <a:pt x="0" y="63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6"/>
          <p:cNvSpPr/>
          <p:nvPr/>
        </p:nvSpPr>
        <p:spPr>
          <a:xfrm>
            <a:off x="11064796" y="0"/>
            <a:ext cx="7223204" cy="10287000"/>
          </a:xfrm>
          <a:custGeom>
            <a:rect b="b" l="l" r="r" t="t"/>
            <a:pathLst>
              <a:path extrusionOk="0" h="10287000" w="7223204">
                <a:moveTo>
                  <a:pt x="0" y="0"/>
                </a:moveTo>
                <a:lnTo>
                  <a:pt x="7223204" y="0"/>
                </a:lnTo>
                <a:lnTo>
                  <a:pt x="72232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92" r="-113424" t="0"/>
            </a:stretch>
          </a:blipFill>
          <a:ln>
            <a:noFill/>
          </a:ln>
        </p:spPr>
      </p:sp>
      <p:grpSp>
        <p:nvGrpSpPr>
          <p:cNvPr id="118" name="Google Shape;118;p16"/>
          <p:cNvGrpSpPr/>
          <p:nvPr/>
        </p:nvGrpSpPr>
        <p:grpSpPr>
          <a:xfrm>
            <a:off x="946994" y="2506740"/>
            <a:ext cx="3358654" cy="2569058"/>
            <a:chOff x="0" y="-66675"/>
            <a:chExt cx="4478206" cy="3425410"/>
          </a:xfrm>
        </p:grpSpPr>
        <p:sp>
          <p:nvSpPr>
            <p:cNvPr id="119" name="Google Shape;119;p16"/>
            <p:cNvSpPr txBox="1"/>
            <p:nvPr/>
          </p:nvSpPr>
          <p:spPr>
            <a:xfrm>
              <a:off x="0" y="-66675"/>
              <a:ext cx="4478206" cy="1433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5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TARGET : BRAZIL</a:t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0" y="1678163"/>
              <a:ext cx="4478206" cy="16805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0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100,000 orders from 2016 to 2018</a:t>
              </a:r>
              <a:endParaRPr/>
            </a:p>
            <a:p>
              <a:pPr indent="0" lvl="0" marL="0" marR="0" rtl="0" algn="l">
                <a:lnSpc>
                  <a:spcPct val="12882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6195546" y="2506740"/>
            <a:ext cx="3392328" cy="2429890"/>
            <a:chOff x="0" y="-66675"/>
            <a:chExt cx="4523104" cy="3239853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0" y="-66675"/>
              <a:ext cx="4523104" cy="6762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ORDER DETAILS</a:t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0" y="873420"/>
              <a:ext cx="4523104" cy="2299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Includes data on order status, pricing, payment, and shipping performance</a:t>
              </a:r>
              <a:endParaRPr/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819137" y="5532419"/>
            <a:ext cx="4219674" cy="2554035"/>
            <a:chOff x="0" y="-57150"/>
            <a:chExt cx="5626232" cy="3405380"/>
          </a:xfrm>
        </p:grpSpPr>
        <p:sp>
          <p:nvSpPr>
            <p:cNvPr id="125" name="Google Shape;125;p16"/>
            <p:cNvSpPr txBox="1"/>
            <p:nvPr/>
          </p:nvSpPr>
          <p:spPr>
            <a:xfrm>
              <a:off x="0" y="-57150"/>
              <a:ext cx="5626232" cy="1310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1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CUSTOMER AND PRODUCT INSIGHTS</a:t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0" y="1609649"/>
              <a:ext cx="5626232" cy="1738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3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Covers customer locations, product details, and customer reviews.</a:t>
              </a:r>
              <a:endParaRPr/>
            </a:p>
          </p:txBody>
        </p:sp>
      </p:grpSp>
      <p:grpSp>
        <p:nvGrpSpPr>
          <p:cNvPr id="127" name="Google Shape;127;p16"/>
          <p:cNvGrpSpPr/>
          <p:nvPr/>
        </p:nvGrpSpPr>
        <p:grpSpPr>
          <a:xfrm>
            <a:off x="6306757" y="5532419"/>
            <a:ext cx="3879630" cy="2633613"/>
            <a:chOff x="0" y="-57150"/>
            <a:chExt cx="5172840" cy="3511485"/>
          </a:xfrm>
        </p:grpSpPr>
        <p:sp>
          <p:nvSpPr>
            <p:cNvPr id="128" name="Google Shape;128;p16"/>
            <p:cNvSpPr txBox="1"/>
            <p:nvPr/>
          </p:nvSpPr>
          <p:spPr>
            <a:xfrm>
              <a:off x="0" y="-57150"/>
              <a:ext cx="5172840" cy="1376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5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DATASET STRUCTUR</a:t>
              </a:r>
              <a:r>
                <a:rPr b="0" i="0" lang="en-US" sz="305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0" y="1738831"/>
              <a:ext cx="5172840" cy="1715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0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Seven data files,  different aspects of operations</a:t>
              </a:r>
              <a:endParaRPr/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1028700" y="364490"/>
            <a:ext cx="8640880" cy="1696956"/>
            <a:chOff x="0" y="0"/>
            <a:chExt cx="11521173" cy="2262608"/>
          </a:xfrm>
        </p:grpSpPr>
        <p:sp>
          <p:nvSpPr>
            <p:cNvPr id="131" name="Google Shape;131;p16"/>
            <p:cNvSpPr txBox="1"/>
            <p:nvPr/>
          </p:nvSpPr>
          <p:spPr>
            <a:xfrm>
              <a:off x="0" y="0"/>
              <a:ext cx="11521173" cy="12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Dataset Overview</a:t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0" y="1790804"/>
              <a:ext cx="9069860" cy="4718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2777676" y="1799541"/>
            <a:ext cx="13436985" cy="8206183"/>
          </a:xfrm>
          <a:custGeom>
            <a:rect b="b" l="l" r="r" t="t"/>
            <a:pathLst>
              <a:path extrusionOk="0" h="8206183" w="13436985">
                <a:moveTo>
                  <a:pt x="0" y="0"/>
                </a:moveTo>
                <a:lnTo>
                  <a:pt x="13436985" y="0"/>
                </a:lnTo>
                <a:lnTo>
                  <a:pt x="13436985" y="8206182"/>
                </a:lnTo>
                <a:lnTo>
                  <a:pt x="0" y="82061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785" r="0" t="0"/>
            </a:stretch>
          </a:blipFill>
          <a:ln>
            <a:noFill/>
          </a:ln>
        </p:spPr>
      </p:sp>
      <p:sp>
        <p:nvSpPr>
          <p:cNvPr id="138" name="Google Shape;138;p17"/>
          <p:cNvSpPr txBox="1"/>
          <p:nvPr/>
        </p:nvSpPr>
        <p:spPr>
          <a:xfrm>
            <a:off x="4104646" y="109827"/>
            <a:ext cx="10783044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 Schemas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0" y="0"/>
            <a:ext cx="18288000" cy="6227795"/>
          </a:xfrm>
          <a:custGeom>
            <a:rect b="b" l="l" r="r" t="t"/>
            <a:pathLst>
              <a:path extrusionOk="0" h="6227795" w="18288000">
                <a:moveTo>
                  <a:pt x="0" y="0"/>
                </a:moveTo>
                <a:lnTo>
                  <a:pt x="18288000" y="0"/>
                </a:lnTo>
                <a:lnTo>
                  <a:pt x="18288000" y="6227795"/>
                </a:lnTo>
                <a:lnTo>
                  <a:pt x="0" y="6227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264" l="-14414" r="0" t="-64536"/>
            </a:stretch>
          </a:blipFill>
          <a:ln>
            <a:noFill/>
          </a:ln>
        </p:spPr>
      </p:sp>
      <p:sp>
        <p:nvSpPr>
          <p:cNvPr id="144" name="Google Shape;144;p18"/>
          <p:cNvSpPr txBox="1"/>
          <p:nvPr/>
        </p:nvSpPr>
        <p:spPr>
          <a:xfrm>
            <a:off x="8639647" y="1025096"/>
            <a:ext cx="7393090" cy="1234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1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901991" y="2736072"/>
            <a:ext cx="4608909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  Analysis </a:t>
            </a:r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875" y="3891975"/>
            <a:ext cx="11812676" cy="609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/>
        </p:nvSpPr>
        <p:spPr>
          <a:xfrm>
            <a:off x="162000" y="3657925"/>
            <a:ext cx="5867100" cy="5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2300">
                <a:solidFill>
                  <a:schemeClr val="lt1"/>
                </a:solidFill>
              </a:rPr>
              <a:t>Revenue and Profitability:</a:t>
            </a:r>
            <a:r>
              <a:rPr b="1" lang="en-US" sz="3000">
                <a:solidFill>
                  <a:schemeClr val="lt1"/>
                </a:solidFill>
              </a:rPr>
              <a:t> </a:t>
            </a:r>
            <a:r>
              <a:rPr lang="en-US" sz="2300">
                <a:solidFill>
                  <a:schemeClr val="lt1"/>
                </a:solidFill>
              </a:rPr>
              <a:t>Assess total revenue and profit margins to evaluate financial performance and identify high-performing regions and product categories.</a:t>
            </a:r>
            <a:endParaRPr sz="23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2300">
                <a:solidFill>
                  <a:schemeClr val="lt1"/>
                </a:solidFill>
              </a:rPr>
              <a:t>Cost Efficiency</a:t>
            </a:r>
            <a:r>
              <a:rPr lang="en-US" sz="3000">
                <a:solidFill>
                  <a:schemeClr val="lt1"/>
                </a:solidFill>
              </a:rPr>
              <a:t>: </a:t>
            </a:r>
            <a:r>
              <a:rPr lang="en-US" sz="2300">
                <a:solidFill>
                  <a:schemeClr val="lt1"/>
                </a:solidFill>
              </a:rPr>
              <a:t>Analyze freight costs to understand their impact on overall profitability and identify areas for optimization in logistics expenses.</a:t>
            </a:r>
            <a:endParaRPr sz="23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6871850" y="1674800"/>
            <a:ext cx="5132700" cy="10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6655250" y="3657925"/>
            <a:ext cx="5724900" cy="4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b="1" lang="en-US" sz="2300">
                <a:solidFill>
                  <a:schemeClr val="lt1"/>
                </a:solidFill>
              </a:rPr>
              <a:t>Customer Payment Preferences: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2300">
                <a:solidFill>
                  <a:schemeClr val="lt1"/>
                </a:solidFill>
              </a:rPr>
              <a:t>: Examine customer payment trends to develop targeted financial strategies, including promotions and loyalty programs.</a:t>
            </a:r>
            <a:endParaRPr sz="23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b="1" lang="en-US" sz="2300">
                <a:solidFill>
                  <a:schemeClr val="lt1"/>
                </a:solidFill>
              </a:rPr>
              <a:t>Sales Trends</a:t>
            </a:r>
            <a:r>
              <a:rPr lang="en-US" sz="2900">
                <a:solidFill>
                  <a:schemeClr val="lt1"/>
                </a:solidFill>
              </a:rPr>
              <a:t>: </a:t>
            </a:r>
            <a:r>
              <a:rPr lang="en-US" sz="2900">
                <a:solidFill>
                  <a:schemeClr val="lt1"/>
                </a:solidFill>
              </a:rPr>
              <a:t> </a:t>
            </a:r>
            <a:r>
              <a:rPr lang="en-US" sz="2600">
                <a:solidFill>
                  <a:schemeClr val="lt1"/>
                </a:solidFill>
              </a:rPr>
              <a:t>Track revenue patterns over time to identify peak and low-performing periods, enabling better sales forecasting and resource allocation.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949775" y="425425"/>
            <a:ext cx="11574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Insights: </a:t>
            </a:r>
            <a:endParaRPr b="1"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 </a:t>
            </a:r>
            <a:r>
              <a:rPr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Managers</a:t>
            </a:r>
            <a:endParaRPr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393600" y="4162500"/>
            <a:ext cx="8838000" cy="6124500"/>
          </a:xfrm>
          <a:prstGeom prst="rect">
            <a:avLst/>
          </a:prstGeom>
          <a:solidFill>
            <a:srgbClr val="C61E2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Optimize Freight Costs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Focus on high-revenue cities like São Paulo and Rio de Janeiro to streamline logistics and reduce freight expenses.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Enhance Profit Margins: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Allocate resources to high-performing product categories (e.g., Furniture Office, House Comfort) to maximize profitability.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Strategize Payment Options: Encourage dominant payment methods observed in customer trends through targeted promotions and discounts.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848375" y="429375"/>
            <a:ext cx="1030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0" y="0"/>
            <a:ext cx="9231600" cy="4162500"/>
          </a:xfrm>
          <a:prstGeom prst="rect">
            <a:avLst/>
          </a:prstGeom>
          <a:solidFill>
            <a:srgbClr val="C61E2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Recommendations: </a:t>
            </a:r>
            <a:endParaRPr b="1"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r>
              <a:rPr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Managers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0" y="0"/>
            <a:ext cx="18288000" cy="6227795"/>
          </a:xfrm>
          <a:custGeom>
            <a:rect b="b" l="l" r="r" t="t"/>
            <a:pathLst>
              <a:path extrusionOk="0" h="6227795" w="18288000">
                <a:moveTo>
                  <a:pt x="0" y="0"/>
                </a:moveTo>
                <a:lnTo>
                  <a:pt x="18288000" y="0"/>
                </a:lnTo>
                <a:lnTo>
                  <a:pt x="18288000" y="6227795"/>
                </a:lnTo>
                <a:lnTo>
                  <a:pt x="0" y="6227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264" l="-14414" r="0" t="-64536"/>
            </a:stretch>
          </a:blipFill>
          <a:ln>
            <a:noFill/>
          </a:ln>
        </p:spPr>
      </p:sp>
      <p:sp>
        <p:nvSpPr>
          <p:cNvPr id="167" name="Google Shape;167;p21"/>
          <p:cNvSpPr/>
          <p:nvPr/>
        </p:nvSpPr>
        <p:spPr>
          <a:xfrm>
            <a:off x="5921480" y="3664230"/>
            <a:ext cx="11875674" cy="6115972"/>
          </a:xfrm>
          <a:custGeom>
            <a:rect b="b" l="l" r="r" t="t"/>
            <a:pathLst>
              <a:path extrusionOk="0" h="6115972" w="11875674">
                <a:moveTo>
                  <a:pt x="0" y="0"/>
                </a:moveTo>
                <a:lnTo>
                  <a:pt x="11875674" y="0"/>
                </a:lnTo>
                <a:lnTo>
                  <a:pt x="11875674" y="6115973"/>
                </a:lnTo>
                <a:lnTo>
                  <a:pt x="0" y="6115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21"/>
          <p:cNvSpPr txBox="1"/>
          <p:nvPr/>
        </p:nvSpPr>
        <p:spPr>
          <a:xfrm>
            <a:off x="8750858" y="1021861"/>
            <a:ext cx="7393090" cy="1234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2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9787138" y="2656452"/>
            <a:ext cx="5320531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Delivery Performance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/>
        </p:nvSpPr>
        <p:spPr>
          <a:xfrm>
            <a:off x="162000" y="3657925"/>
            <a:ext cx="5867100" cy="5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</a:rPr>
              <a:t>Delivery Efficiency</a:t>
            </a:r>
            <a:r>
              <a:rPr lang="en-US" sz="3000">
                <a:solidFill>
                  <a:schemeClr val="lt1"/>
                </a:solidFill>
              </a:rPr>
              <a:t>: Analyze on-time versus late deliveries by city and product category to identify logistical inefficiencies.</a:t>
            </a:r>
            <a:endParaRPr sz="3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b="1" lang="en-US" sz="3000">
                <a:solidFill>
                  <a:schemeClr val="lt1"/>
                </a:solidFill>
              </a:rPr>
              <a:t>Delay Analysis</a:t>
            </a:r>
            <a:r>
              <a:rPr lang="en-US" sz="3000">
                <a:solidFill>
                  <a:schemeClr val="lt1"/>
                </a:solidFill>
              </a:rPr>
              <a:t>: Understand delay times for specific product categories to optimize the supply chain.</a:t>
            </a:r>
            <a:endParaRPr sz="3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6871850" y="1674800"/>
            <a:ext cx="5132700" cy="10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6655250" y="3657925"/>
            <a:ext cx="5724900" cy="4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b="1" lang="en-US" sz="2900">
                <a:solidFill>
                  <a:schemeClr val="lt1"/>
                </a:solidFill>
              </a:rPr>
              <a:t>Order Fulfillment Trends</a:t>
            </a:r>
            <a:r>
              <a:rPr lang="en-US" sz="2900">
                <a:solidFill>
                  <a:schemeClr val="lt1"/>
                </a:solidFill>
              </a:rPr>
              <a:t>: Monitor fulfillment times geographically to pinpoint regions with prolonged delivery times.</a:t>
            </a:r>
            <a:endParaRPr sz="29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Char char="●"/>
            </a:pPr>
            <a:r>
              <a:rPr b="1" lang="en-US" sz="2900">
                <a:solidFill>
                  <a:schemeClr val="lt1"/>
                </a:solidFill>
              </a:rPr>
              <a:t>Cancelled Orders</a:t>
            </a:r>
            <a:r>
              <a:rPr lang="en-US" sz="2900">
                <a:solidFill>
                  <a:schemeClr val="lt1"/>
                </a:solidFill>
              </a:rPr>
              <a:t>: Observe trends in canceled orders to identify recurring issues in the operational process</a:t>
            </a:r>
            <a:endParaRPr sz="3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949775" y="425425"/>
            <a:ext cx="11574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Insights: </a:t>
            </a:r>
            <a:endParaRPr b="1"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 Managers</a:t>
            </a:r>
            <a:endParaRPr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393600" y="4162500"/>
            <a:ext cx="8838000" cy="6124500"/>
          </a:xfrm>
          <a:prstGeom prst="rect">
            <a:avLst/>
          </a:prstGeom>
          <a:solidFill>
            <a:srgbClr val="C61E2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Prioritize resources in cities with high late deliveries (e.g., São Paulo) to enhance delivery timelines.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Optimize the supply chain for categories with the highest delays, such as "Automotive."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 strategies to reduce cancellations by addressing identified problem areas in the order lifecycle.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3848375" y="429375"/>
            <a:ext cx="1030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0" y="0"/>
            <a:ext cx="9231600" cy="4162500"/>
          </a:xfrm>
          <a:prstGeom prst="rect">
            <a:avLst/>
          </a:prstGeom>
          <a:solidFill>
            <a:srgbClr val="C61E2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r>
              <a:rPr b="1"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1" sz="7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 Managers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1E23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/>
          <p:nvPr/>
        </p:nvSpPr>
        <p:spPr>
          <a:xfrm>
            <a:off x="17003587" y="1028700"/>
            <a:ext cx="255713" cy="63928"/>
          </a:xfrm>
          <a:custGeom>
            <a:rect b="b" l="l" r="r" t="t"/>
            <a:pathLst>
              <a:path extrusionOk="0" h="63928" w="255713">
                <a:moveTo>
                  <a:pt x="0" y="0"/>
                </a:moveTo>
                <a:lnTo>
                  <a:pt x="255713" y="0"/>
                </a:lnTo>
                <a:lnTo>
                  <a:pt x="255713" y="63928"/>
                </a:lnTo>
                <a:lnTo>
                  <a:pt x="0" y="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24"/>
          <p:cNvSpPr txBox="1"/>
          <p:nvPr/>
        </p:nvSpPr>
        <p:spPr>
          <a:xfrm>
            <a:off x="3920350" y="6393051"/>
            <a:ext cx="1074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2000"/>
          </a:p>
        </p:txBody>
      </p:sp>
      <p:pic>
        <p:nvPicPr>
          <p:cNvPr id="191" name="Google Shape;191;p24"/>
          <p:cNvPicPr preferRelativeResize="0"/>
          <p:nvPr/>
        </p:nvPicPr>
        <p:blipFill rotWithShape="1">
          <a:blip r:embed="rId4">
            <a:alphaModFix/>
          </a:blip>
          <a:srcRect b="18992" l="0" r="0" t="14949"/>
          <a:stretch/>
        </p:blipFill>
        <p:spPr>
          <a:xfrm>
            <a:off x="0" y="0"/>
            <a:ext cx="18288001" cy="567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